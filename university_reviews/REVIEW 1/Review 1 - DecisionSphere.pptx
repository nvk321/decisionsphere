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257" r:id="rId3"/>
    <p:sldId id="258" r:id="rId4"/>
    <p:sldId id="259" r:id="rId5"/>
    <p:sldId id="263"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29-07-2026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29-07-2026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29-07-2026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29-07-2026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29-07-2026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29-07-2026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29-07-2026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29-07-2026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29-07-2026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29-07-2026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29-07-2026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29-07-2026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490943"/>
            <a:ext cx="8924544" cy="1532727"/>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Programme </a:t>
            </a:r>
            <a:r>
              <a:rPr lang="en-IN" sz="2000" b="1" dirty="0" err="1">
                <a:latin typeface="Times New Roman" panose="02020603050405020304" pitchFamily="18" charset="0"/>
                <a:cs typeface="Times New Roman" panose="02020603050405020304" pitchFamily="18" charset="0"/>
              </a:rPr>
              <a:t>B.Tech</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BCSE497J – Project - I</a:t>
            </a:r>
            <a:br>
              <a:rPr lang="en-IN" sz="3200" b="1" dirty="0">
                <a:latin typeface="Times New Roman" panose="02020603050405020304" pitchFamily="18" charset="0"/>
                <a:cs typeface="Times New Roman" panose="02020603050405020304" pitchFamily="18" charset="0"/>
              </a:rPr>
            </a:br>
            <a:r>
              <a:rPr lang="en-IN" sz="3200" b="1" dirty="0" err="1">
                <a:latin typeface="Times New Roman" panose="02020603050405020304" pitchFamily="18" charset="0"/>
                <a:cs typeface="Times New Roman" panose="02020603050405020304" pitchFamily="18" charset="0"/>
              </a:rPr>
              <a:t>DecisionSphere</a:t>
            </a:r>
            <a:r>
              <a:rPr lang="en-IN" sz="3200" b="1" dirty="0">
                <a:latin typeface="Times New Roman" panose="02020603050405020304" pitchFamily="18" charset="0"/>
                <a:cs typeface="Times New Roman" panose="02020603050405020304" pitchFamily="18" charset="0"/>
              </a:rPr>
              <a:t>: A Scenario-Based Strategic Planning and Risk Evaluation Platform</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734082"/>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P Naga Venkata Kushal		  (23BDS0133)</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P Manjunatha Kumar Tejas	  (23BCE0584)</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Jeswanth Reddy </a:t>
            </a:r>
            <a:r>
              <a:rPr lang="en-IN" sz="2000" b="1" dirty="0" err="1">
                <a:latin typeface="Times New Roman"/>
                <a:cs typeface="Times New Roman"/>
              </a:rPr>
              <a:t>Sagabala</a:t>
            </a:r>
            <a:r>
              <a:rPr lang="en-IN" sz="2000" b="1" dirty="0">
                <a:latin typeface="Times New Roman"/>
                <a:cs typeface="Times New Roman"/>
              </a:rPr>
              <a:t>             (23BCE0203)</a:t>
            </a: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b="1" dirty="0">
                <a:latin typeface="Times New Roman"/>
                <a:cs typeface="Times New Roman"/>
              </a:rPr>
              <a:t>Dr. Suresh A</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To design and develop an AI-powered strategic decision support platform that enables organizations to simulate business scenarios, evaluate cross-domain risks across demand forecasting, supply chain, and workforce management, and generate explainable recommendations for proactive strategic decision-making.</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29-07-2026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2</a:t>
            </a:fld>
            <a:endParaRPr lang="en-IN"/>
          </a:p>
        </p:txBody>
      </p:sp>
    </p:spTree>
    <p:extLst>
      <p:ext uri="{BB962C8B-B14F-4D97-AF65-F5344CB8AC3E}">
        <p14:creationId xmlns:p14="http://schemas.microsoft.com/office/powerpoint/2010/main" val="25435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Modern organizations operate in highly interconnected business environments where disruptions in demand, supply chain operations, and workforce availability significantly influence organizational performance. Existing decision support systems primarily analyse these domains independently, limiting their capability to evaluate cascading business impacts and future strategic scenarios. This project proposes </a:t>
            </a:r>
            <a:r>
              <a:rPr lang="en-IN" b="1" dirty="0" err="1">
                <a:latin typeface="Times New Roman" panose="02020603050405020304" pitchFamily="18" charset="0"/>
                <a:cs typeface="Times New Roman" panose="02020603050405020304" pitchFamily="18" charset="0"/>
              </a:rPr>
              <a:t>DecisionSphere</a:t>
            </a:r>
            <a:r>
              <a:rPr lang="en-IN" dirty="0">
                <a:latin typeface="Times New Roman" panose="02020603050405020304" pitchFamily="18" charset="0"/>
                <a:cs typeface="Times New Roman" panose="02020603050405020304" pitchFamily="18" charset="0"/>
              </a:rPr>
              <a:t>, an AI-powered strategic planning and risk evaluation platform that integrates demand forecasting, supply chain risk analysis, workforce analytics, and business impact assessment within a unified scenario simulation framework. Using real-world retail, supply chain, and HR datasets, the platform enables organizations to construct hypothetical "what-if" scenarios, estimate operational risks, evaluate business impact, and receive explainable AI-driven recommendations before implementing strategic decisions. The proposed framework aims to provide proactive, transparent, and data-driven decision support through an interactive dashboard, thereby improving organizational resilience and supporting informed business planning.</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29-07-2026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345309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838200" y="228145"/>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29-07-2026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4</a:t>
            </a:fld>
            <a:endParaRPr lang="en-IN"/>
          </a:p>
        </p:txBody>
      </p:sp>
      <p:graphicFrame>
        <p:nvGraphicFramePr>
          <p:cNvPr id="15" name="Table 14">
            <a:extLst>
              <a:ext uri="{FF2B5EF4-FFF2-40B4-BE49-F238E27FC236}">
                <a16:creationId xmlns:a16="http://schemas.microsoft.com/office/drawing/2014/main" id="{2BF6980A-C0BE-CB3D-F31D-58052CF2CC3C}"/>
              </a:ext>
            </a:extLst>
          </p:cNvPr>
          <p:cNvGraphicFramePr>
            <a:graphicFrameLocks noGrp="1"/>
          </p:cNvGraphicFramePr>
          <p:nvPr>
            <p:extLst>
              <p:ext uri="{D42A27DB-BD31-4B8C-83A1-F6EECF244321}">
                <p14:modId xmlns:p14="http://schemas.microsoft.com/office/powerpoint/2010/main" val="3508343539"/>
              </p:ext>
            </p:extLst>
          </p:nvPr>
        </p:nvGraphicFramePr>
        <p:xfrm>
          <a:off x="838200" y="914400"/>
          <a:ext cx="10515600" cy="44805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892126164"/>
                    </a:ext>
                  </a:extLst>
                </a:gridCol>
                <a:gridCol w="2103120">
                  <a:extLst>
                    <a:ext uri="{9D8B030D-6E8A-4147-A177-3AD203B41FA5}">
                      <a16:colId xmlns:a16="http://schemas.microsoft.com/office/drawing/2014/main" val="3670787034"/>
                    </a:ext>
                  </a:extLst>
                </a:gridCol>
                <a:gridCol w="2103120">
                  <a:extLst>
                    <a:ext uri="{9D8B030D-6E8A-4147-A177-3AD203B41FA5}">
                      <a16:colId xmlns:a16="http://schemas.microsoft.com/office/drawing/2014/main" val="578854186"/>
                    </a:ext>
                  </a:extLst>
                </a:gridCol>
                <a:gridCol w="2103120">
                  <a:extLst>
                    <a:ext uri="{9D8B030D-6E8A-4147-A177-3AD203B41FA5}">
                      <a16:colId xmlns:a16="http://schemas.microsoft.com/office/drawing/2014/main" val="3074972178"/>
                    </a:ext>
                  </a:extLst>
                </a:gridCol>
                <a:gridCol w="2103120">
                  <a:extLst>
                    <a:ext uri="{9D8B030D-6E8A-4147-A177-3AD203B41FA5}">
                      <a16:colId xmlns:a16="http://schemas.microsoft.com/office/drawing/2014/main" val="2830874764"/>
                    </a:ext>
                  </a:extLst>
                </a:gridCol>
              </a:tblGrid>
              <a:tr h="305351">
                <a:tc>
                  <a:txBody>
                    <a:bodyPr/>
                    <a:lstStyle/>
                    <a:p>
                      <a:pPr>
                        <a:buNone/>
                      </a:pPr>
                      <a:r>
                        <a:rPr lang="en-IN" dirty="0"/>
                        <a:t>Paper</a:t>
                      </a:r>
                    </a:p>
                  </a:txBody>
                  <a:tcPr anchor="ctr"/>
                </a:tc>
                <a:tc>
                  <a:txBody>
                    <a:bodyPr/>
                    <a:lstStyle/>
                    <a:p>
                      <a:pPr>
                        <a:buNone/>
                      </a:pPr>
                      <a:r>
                        <a:rPr lang="en-IN"/>
                        <a:t>Objective</a:t>
                      </a:r>
                    </a:p>
                  </a:txBody>
                  <a:tcPr anchor="ctr"/>
                </a:tc>
                <a:tc>
                  <a:txBody>
                    <a:bodyPr/>
                    <a:lstStyle/>
                    <a:p>
                      <a:pPr>
                        <a:buNone/>
                      </a:pPr>
                      <a:r>
                        <a:rPr lang="en-IN"/>
                        <a:t>Methodology</a:t>
                      </a:r>
                    </a:p>
                  </a:txBody>
                  <a:tcPr anchor="ctr"/>
                </a:tc>
                <a:tc>
                  <a:txBody>
                    <a:bodyPr/>
                    <a:lstStyle/>
                    <a:p>
                      <a:pPr>
                        <a:buNone/>
                      </a:pPr>
                      <a:r>
                        <a:rPr lang="en-IN"/>
                        <a:t>Strengths / Limitations</a:t>
                      </a:r>
                    </a:p>
                  </a:txBody>
                  <a:tcPr anchor="ctr"/>
                </a:tc>
                <a:tc>
                  <a:txBody>
                    <a:bodyPr/>
                    <a:lstStyle/>
                    <a:p>
                      <a:pPr>
                        <a:buNone/>
                      </a:pPr>
                      <a:r>
                        <a:rPr lang="en-IN"/>
                        <a:t>Research Insight</a:t>
                      </a:r>
                    </a:p>
                  </a:txBody>
                  <a:tcPr anchor="ctr"/>
                </a:tc>
                <a:extLst>
                  <a:ext uri="{0D108BD9-81ED-4DB2-BD59-A6C34878D82A}">
                    <a16:rowId xmlns:a16="http://schemas.microsoft.com/office/drawing/2014/main" val="1903443042"/>
                  </a:ext>
                </a:extLst>
              </a:tr>
              <a:tr h="567081">
                <a:tc>
                  <a:txBody>
                    <a:bodyPr/>
                    <a:lstStyle/>
                    <a:p>
                      <a:pPr>
                        <a:buNone/>
                      </a:pPr>
                      <a:r>
                        <a:rPr lang="en-IN" dirty="0"/>
                        <a:t>Karim et al. (2025)</a:t>
                      </a:r>
                    </a:p>
                  </a:txBody>
                  <a:tcPr anchor="ctr"/>
                </a:tc>
                <a:tc>
                  <a:txBody>
                    <a:bodyPr/>
                    <a:lstStyle/>
                    <a:p>
                      <a:pPr>
                        <a:buNone/>
                      </a:pPr>
                      <a:r>
                        <a:rPr lang="en-IN" dirty="0"/>
                        <a:t>Retail Demand Forecasting</a:t>
                      </a:r>
                    </a:p>
                  </a:txBody>
                  <a:tcPr anchor="ctr"/>
                </a:tc>
                <a:tc>
                  <a:txBody>
                    <a:bodyPr/>
                    <a:lstStyle/>
                    <a:p>
                      <a:pPr>
                        <a:buNone/>
                      </a:pPr>
                      <a:r>
                        <a:rPr lang="en-IN"/>
                        <a:t>AI-based Predictive Analytics</a:t>
                      </a:r>
                    </a:p>
                  </a:txBody>
                  <a:tcPr anchor="ctr"/>
                </a:tc>
                <a:tc>
                  <a:txBody>
                    <a:bodyPr/>
                    <a:lstStyle/>
                    <a:p>
                      <a:pPr>
                        <a:buNone/>
                      </a:pPr>
                      <a:r>
                        <a:rPr lang="en-IN"/>
                        <a:t>High forecasting accuracy; affected by concept drift</a:t>
                      </a:r>
                    </a:p>
                  </a:txBody>
                  <a:tcPr anchor="ctr"/>
                </a:tc>
                <a:tc>
                  <a:txBody>
                    <a:bodyPr/>
                    <a:lstStyle/>
                    <a:p>
                      <a:pPr>
                        <a:buNone/>
                      </a:pPr>
                      <a:r>
                        <a:rPr lang="en-IN" dirty="0"/>
                        <a:t>Advanced forecasting improves business planning.</a:t>
                      </a:r>
                    </a:p>
                  </a:txBody>
                  <a:tcPr anchor="ctr"/>
                </a:tc>
                <a:extLst>
                  <a:ext uri="{0D108BD9-81ED-4DB2-BD59-A6C34878D82A}">
                    <a16:rowId xmlns:a16="http://schemas.microsoft.com/office/drawing/2014/main" val="3851818965"/>
                  </a:ext>
                </a:extLst>
              </a:tr>
              <a:tr h="697945">
                <a:tc>
                  <a:txBody>
                    <a:bodyPr/>
                    <a:lstStyle/>
                    <a:p>
                      <a:pPr>
                        <a:buNone/>
                      </a:pPr>
                      <a:r>
                        <a:rPr lang="en-IN" dirty="0"/>
                        <a:t>Ivanov (2026)</a:t>
                      </a:r>
                    </a:p>
                  </a:txBody>
                  <a:tcPr anchor="ctr"/>
                </a:tc>
                <a:tc>
                  <a:txBody>
                    <a:bodyPr/>
                    <a:lstStyle/>
                    <a:p>
                      <a:pPr>
                        <a:buNone/>
                      </a:pPr>
                      <a:r>
                        <a:rPr lang="en-IN"/>
                        <a:t>Supply Chain Decision Support</a:t>
                      </a:r>
                    </a:p>
                  </a:txBody>
                  <a:tcPr anchor="ctr"/>
                </a:tc>
                <a:tc>
                  <a:txBody>
                    <a:bodyPr/>
                    <a:lstStyle/>
                    <a:p>
                      <a:pPr>
                        <a:buNone/>
                      </a:pPr>
                      <a:r>
                        <a:rPr lang="en-IN"/>
                        <a:t>Agentic Digital Twins</a:t>
                      </a:r>
                    </a:p>
                  </a:txBody>
                  <a:tcPr anchor="ctr"/>
                </a:tc>
                <a:tc>
                  <a:txBody>
                    <a:bodyPr/>
                    <a:lstStyle/>
                    <a:p>
                      <a:pPr>
                        <a:buNone/>
                      </a:pPr>
                      <a:r>
                        <a:rPr lang="en-IN" dirty="0"/>
                        <a:t>Dynamic supply chain simulation; high implementation complexity</a:t>
                      </a:r>
                    </a:p>
                  </a:txBody>
                  <a:tcPr anchor="ctr"/>
                </a:tc>
                <a:tc>
                  <a:txBody>
                    <a:bodyPr/>
                    <a:lstStyle/>
                    <a:p>
                      <a:pPr>
                        <a:buNone/>
                      </a:pPr>
                      <a:r>
                        <a:rPr lang="en-IN"/>
                        <a:t>Demonstrates the importance of scenario-based logistics planning.</a:t>
                      </a:r>
                    </a:p>
                  </a:txBody>
                  <a:tcPr anchor="ctr"/>
                </a:tc>
                <a:extLst>
                  <a:ext uri="{0D108BD9-81ED-4DB2-BD59-A6C34878D82A}">
                    <a16:rowId xmlns:a16="http://schemas.microsoft.com/office/drawing/2014/main" val="282288229"/>
                  </a:ext>
                </a:extLst>
              </a:tr>
              <a:tr h="697945">
                <a:tc>
                  <a:txBody>
                    <a:bodyPr/>
                    <a:lstStyle/>
                    <a:p>
                      <a:pPr>
                        <a:buNone/>
                      </a:pPr>
                      <a:r>
                        <a:rPr lang="en-IN"/>
                        <a:t>Sunmola (2024)</a:t>
                      </a:r>
                    </a:p>
                  </a:txBody>
                  <a:tcPr anchor="ctr"/>
                </a:tc>
                <a:tc>
                  <a:txBody>
                    <a:bodyPr/>
                    <a:lstStyle/>
                    <a:p>
                      <a:pPr>
                        <a:buNone/>
                      </a:pPr>
                      <a:r>
                        <a:rPr lang="en-IN"/>
                        <a:t>Supply Chain Resilience</a:t>
                      </a:r>
                    </a:p>
                  </a:txBody>
                  <a:tcPr anchor="ctr"/>
                </a:tc>
                <a:tc>
                  <a:txBody>
                    <a:bodyPr/>
                    <a:lstStyle/>
                    <a:p>
                      <a:pPr>
                        <a:buNone/>
                      </a:pPr>
                      <a:r>
                        <a:rPr lang="en-IN"/>
                        <a:t>AI + Knowledge Graphs</a:t>
                      </a:r>
                    </a:p>
                  </a:txBody>
                  <a:tcPr anchor="ctr"/>
                </a:tc>
                <a:tc>
                  <a:txBody>
                    <a:bodyPr/>
                    <a:lstStyle/>
                    <a:p>
                      <a:pPr>
                        <a:buNone/>
                      </a:pPr>
                      <a:r>
                        <a:rPr lang="en-IN"/>
                        <a:t>Improves disruption management; computationally intensive</a:t>
                      </a:r>
                    </a:p>
                  </a:txBody>
                  <a:tcPr anchor="ctr"/>
                </a:tc>
                <a:tc>
                  <a:txBody>
                    <a:bodyPr/>
                    <a:lstStyle/>
                    <a:p>
                      <a:pPr>
                        <a:buNone/>
                      </a:pPr>
                      <a:r>
                        <a:rPr lang="en-IN" dirty="0"/>
                        <a:t>AI enhances supply chain risk assessment.</a:t>
                      </a:r>
                    </a:p>
                  </a:txBody>
                  <a:tcPr anchor="ctr"/>
                </a:tc>
                <a:extLst>
                  <a:ext uri="{0D108BD9-81ED-4DB2-BD59-A6C34878D82A}">
                    <a16:rowId xmlns:a16="http://schemas.microsoft.com/office/drawing/2014/main" val="3195035814"/>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295721A-716C-FE13-B1ED-0BAA5086304D}"/>
              </a:ext>
            </a:extLst>
          </p:cNvPr>
          <p:cNvSpPr>
            <a:spLocks noGrp="1"/>
          </p:cNvSpPr>
          <p:nvPr>
            <p:ph type="dt" sz="half" idx="10"/>
          </p:nvPr>
        </p:nvSpPr>
        <p:spPr/>
        <p:txBody>
          <a:bodyPr/>
          <a:lstStyle/>
          <a:p>
            <a:fld id="{FEA886FF-1BA7-4533-94E6-869CE1E2970B}" type="datetime1">
              <a:rPr lang="en-IN" smtClean="0"/>
              <a:t>29-07-2026</a:t>
            </a:fld>
            <a:endParaRPr lang="en-IN"/>
          </a:p>
        </p:txBody>
      </p:sp>
      <p:sp>
        <p:nvSpPr>
          <p:cNvPr id="5" name="Footer Placeholder 4">
            <a:extLst>
              <a:ext uri="{FF2B5EF4-FFF2-40B4-BE49-F238E27FC236}">
                <a16:creationId xmlns:a16="http://schemas.microsoft.com/office/drawing/2014/main" id="{8707F8F5-B77E-6AB0-5FE5-3A89FB56A765}"/>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A526B565-0C6F-E98F-A243-E563F94213C8}"/>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9" name="Table 8">
            <a:extLst>
              <a:ext uri="{FF2B5EF4-FFF2-40B4-BE49-F238E27FC236}">
                <a16:creationId xmlns:a16="http://schemas.microsoft.com/office/drawing/2014/main" id="{4B8C1D5F-50FF-C696-772A-D53E4FE53C4A}"/>
              </a:ext>
            </a:extLst>
          </p:cNvPr>
          <p:cNvGraphicFramePr>
            <a:graphicFrameLocks noGrp="1"/>
          </p:cNvGraphicFramePr>
          <p:nvPr>
            <p:extLst>
              <p:ext uri="{D42A27DB-BD31-4B8C-83A1-F6EECF244321}">
                <p14:modId xmlns:p14="http://schemas.microsoft.com/office/powerpoint/2010/main" val="689377556"/>
              </p:ext>
            </p:extLst>
          </p:nvPr>
        </p:nvGraphicFramePr>
        <p:xfrm>
          <a:off x="844952" y="719666"/>
          <a:ext cx="10508848" cy="4333565"/>
        </p:xfrm>
        <a:graphic>
          <a:graphicData uri="http://schemas.openxmlformats.org/drawingml/2006/table">
            <a:tbl>
              <a:tblPr firstRow="1" bandRow="1">
                <a:tableStyleId>{5C22544A-7EE6-4342-B048-85BDC9FD1C3A}</a:tableStyleId>
              </a:tblPr>
              <a:tblGrid>
                <a:gridCol w="2096368">
                  <a:extLst>
                    <a:ext uri="{9D8B030D-6E8A-4147-A177-3AD203B41FA5}">
                      <a16:colId xmlns:a16="http://schemas.microsoft.com/office/drawing/2014/main" val="892126164"/>
                    </a:ext>
                  </a:extLst>
                </a:gridCol>
                <a:gridCol w="2103120">
                  <a:extLst>
                    <a:ext uri="{9D8B030D-6E8A-4147-A177-3AD203B41FA5}">
                      <a16:colId xmlns:a16="http://schemas.microsoft.com/office/drawing/2014/main" val="3670787034"/>
                    </a:ext>
                  </a:extLst>
                </a:gridCol>
                <a:gridCol w="2103120">
                  <a:extLst>
                    <a:ext uri="{9D8B030D-6E8A-4147-A177-3AD203B41FA5}">
                      <a16:colId xmlns:a16="http://schemas.microsoft.com/office/drawing/2014/main" val="578854186"/>
                    </a:ext>
                  </a:extLst>
                </a:gridCol>
                <a:gridCol w="2103120">
                  <a:extLst>
                    <a:ext uri="{9D8B030D-6E8A-4147-A177-3AD203B41FA5}">
                      <a16:colId xmlns:a16="http://schemas.microsoft.com/office/drawing/2014/main" val="3074972178"/>
                    </a:ext>
                  </a:extLst>
                </a:gridCol>
                <a:gridCol w="2103120">
                  <a:extLst>
                    <a:ext uri="{9D8B030D-6E8A-4147-A177-3AD203B41FA5}">
                      <a16:colId xmlns:a16="http://schemas.microsoft.com/office/drawing/2014/main" val="2830874764"/>
                    </a:ext>
                  </a:extLst>
                </a:gridCol>
              </a:tblGrid>
              <a:tr h="805463">
                <a:tc>
                  <a:txBody>
                    <a:bodyPr/>
                    <a:lstStyle/>
                    <a:p>
                      <a:pPr>
                        <a:buNone/>
                      </a:pPr>
                      <a:r>
                        <a:rPr lang="en-IN" sz="1800" dirty="0">
                          <a:latin typeface="Times New Roman" panose="02020603050405020304" pitchFamily="18" charset="0"/>
                          <a:cs typeface="Times New Roman" panose="02020603050405020304" pitchFamily="18" charset="0"/>
                        </a:rPr>
                        <a:t>Paper</a:t>
                      </a:r>
                    </a:p>
                  </a:txBody>
                  <a:tcPr anchor="ctr"/>
                </a:tc>
                <a:tc>
                  <a:txBody>
                    <a:bodyPr/>
                    <a:lstStyle/>
                    <a:p>
                      <a:pPr>
                        <a:buNone/>
                      </a:pPr>
                      <a:r>
                        <a:rPr lang="en-IN" sz="1800">
                          <a:latin typeface="Times New Roman" panose="02020603050405020304" pitchFamily="18" charset="0"/>
                          <a:cs typeface="Times New Roman" panose="02020603050405020304" pitchFamily="18" charset="0"/>
                        </a:rPr>
                        <a:t>Objective</a:t>
                      </a:r>
                    </a:p>
                  </a:txBody>
                  <a:tcPr anchor="ctr"/>
                </a:tc>
                <a:tc>
                  <a:txBody>
                    <a:bodyPr/>
                    <a:lstStyle/>
                    <a:p>
                      <a:pPr>
                        <a:buNone/>
                      </a:pPr>
                      <a:r>
                        <a:rPr lang="en-IN" sz="1800">
                          <a:latin typeface="Times New Roman" panose="02020603050405020304" pitchFamily="18" charset="0"/>
                          <a:cs typeface="Times New Roman" panose="02020603050405020304" pitchFamily="18" charset="0"/>
                        </a:rPr>
                        <a:t>Methodology</a:t>
                      </a:r>
                    </a:p>
                  </a:txBody>
                  <a:tcPr anchor="ctr"/>
                </a:tc>
                <a:tc>
                  <a:txBody>
                    <a:bodyPr/>
                    <a:lstStyle/>
                    <a:p>
                      <a:pPr>
                        <a:buNone/>
                      </a:pPr>
                      <a:r>
                        <a:rPr lang="en-IN" sz="1800">
                          <a:latin typeface="Times New Roman" panose="02020603050405020304" pitchFamily="18" charset="0"/>
                          <a:cs typeface="Times New Roman" panose="02020603050405020304" pitchFamily="18" charset="0"/>
                        </a:rPr>
                        <a:t>Strengths / Limitations</a:t>
                      </a:r>
                    </a:p>
                  </a:txBody>
                  <a:tcPr anchor="ctr"/>
                </a:tc>
                <a:tc>
                  <a:txBody>
                    <a:bodyPr/>
                    <a:lstStyle/>
                    <a:p>
                      <a:pPr>
                        <a:buNone/>
                      </a:pPr>
                      <a:r>
                        <a:rPr lang="en-IN" sz="1800">
                          <a:latin typeface="Times New Roman" panose="02020603050405020304" pitchFamily="18" charset="0"/>
                          <a:cs typeface="Times New Roman" panose="02020603050405020304" pitchFamily="18" charset="0"/>
                        </a:rPr>
                        <a:t>Research Insight</a:t>
                      </a:r>
                    </a:p>
                  </a:txBody>
                  <a:tcPr anchor="ctr"/>
                </a:tc>
                <a:extLst>
                  <a:ext uri="{0D108BD9-81ED-4DB2-BD59-A6C34878D82A}">
                    <a16:rowId xmlns:a16="http://schemas.microsoft.com/office/drawing/2014/main" val="1903443042"/>
                  </a:ext>
                </a:extLst>
              </a:tr>
              <a:tr h="1150662">
                <a:tc>
                  <a:txBody>
                    <a:bodyPr/>
                    <a:lstStyle/>
                    <a:p>
                      <a:pPr>
                        <a:buNone/>
                      </a:pPr>
                      <a:r>
                        <a:rPr lang="en-IN" sz="1800">
                          <a:latin typeface="Times New Roman" panose="02020603050405020304" pitchFamily="18" charset="0"/>
                          <a:cs typeface="Times New Roman" panose="02020603050405020304" pitchFamily="18" charset="0"/>
                        </a:rPr>
                        <a:t>Madanchian &amp; Taherdoost (2025)</a:t>
                      </a:r>
                    </a:p>
                  </a:txBody>
                  <a:tcPr anchor="ctr"/>
                </a:tc>
                <a:tc>
                  <a:txBody>
                    <a:bodyPr/>
                    <a:lstStyle/>
                    <a:p>
                      <a:pPr>
                        <a:buNone/>
                      </a:pPr>
                      <a:r>
                        <a:rPr lang="en-IN" sz="1800">
                          <a:latin typeface="Times New Roman" panose="02020603050405020304" pitchFamily="18" charset="0"/>
                          <a:cs typeface="Times New Roman" panose="02020603050405020304" pitchFamily="18" charset="0"/>
                        </a:rPr>
                        <a:t>Employee Attrition Prediction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Explainable AI (SHAP)</a:t>
                      </a:r>
                    </a:p>
                  </a:txBody>
                  <a:tcPr anchor="ctr"/>
                </a:tc>
                <a:tc>
                  <a:txBody>
                    <a:bodyPr/>
                    <a:lstStyle/>
                    <a:p>
                      <a:pPr>
                        <a:buNone/>
                      </a:pPr>
                      <a:r>
                        <a:rPr lang="en-IN" sz="1800">
                          <a:latin typeface="Times New Roman" panose="02020603050405020304" pitchFamily="18" charset="0"/>
                          <a:cs typeface="Times New Roman" panose="02020603050405020304" pitchFamily="18" charset="0"/>
                        </a:rPr>
                        <a:t>Transparent HR prediction; limited real-time data</a:t>
                      </a:r>
                    </a:p>
                  </a:txBody>
                  <a:tcPr anchor="ctr"/>
                </a:tc>
                <a:tc>
                  <a:txBody>
                    <a:bodyPr/>
                    <a:lstStyle/>
                    <a:p>
                      <a:pPr>
                        <a:buNone/>
                      </a:pPr>
                      <a:r>
                        <a:rPr lang="en-IN" sz="1800">
                          <a:latin typeface="Times New Roman" panose="02020603050405020304" pitchFamily="18" charset="0"/>
                          <a:cs typeface="Times New Roman" panose="02020603050405020304" pitchFamily="18" charset="0"/>
                        </a:rPr>
                        <a:t>Explainability improves decision confidence.</a:t>
                      </a:r>
                    </a:p>
                  </a:txBody>
                  <a:tcPr anchor="ctr"/>
                </a:tc>
                <a:extLst>
                  <a:ext uri="{0D108BD9-81ED-4DB2-BD59-A6C34878D82A}">
                    <a16:rowId xmlns:a16="http://schemas.microsoft.com/office/drawing/2014/main" val="3851818965"/>
                  </a:ext>
                </a:extLst>
              </a:tr>
              <a:tr h="1150662">
                <a:tc>
                  <a:txBody>
                    <a:bodyPr/>
                    <a:lstStyle/>
                    <a:p>
                      <a:pPr>
                        <a:buNone/>
                      </a:pPr>
                      <a:r>
                        <a:rPr lang="en-IN">
                          <a:latin typeface="Times New Roman" panose="02020603050405020304" pitchFamily="18" charset="0"/>
                          <a:cs typeface="Times New Roman" panose="02020603050405020304" pitchFamily="18" charset="0"/>
                        </a:rPr>
                        <a:t>Badhon et al. (2025)</a:t>
                      </a:r>
                    </a:p>
                  </a:txBody>
                  <a:tcPr anchor="ctr"/>
                </a:tc>
                <a:tc>
                  <a:txBody>
                    <a:bodyPr/>
                    <a:lstStyle/>
                    <a:p>
                      <a:pPr>
                        <a:buNone/>
                      </a:pPr>
                      <a:r>
                        <a:rPr lang="en-IN">
                          <a:latin typeface="Times New Roman" panose="02020603050405020304" pitchFamily="18" charset="0"/>
                          <a:cs typeface="Times New Roman" panose="02020603050405020304" pitchFamily="18" charset="0"/>
                        </a:rPr>
                        <a:t>Explainable Decision Support</a:t>
                      </a:r>
                    </a:p>
                  </a:txBody>
                  <a:tcPr anchor="ctr"/>
                </a:tc>
                <a:tc>
                  <a:txBody>
                    <a:bodyPr/>
                    <a:lstStyle/>
                    <a:p>
                      <a:pPr>
                        <a:buNone/>
                      </a:pPr>
                      <a:r>
                        <a:rPr lang="en-IN">
                          <a:latin typeface="Times New Roman" panose="02020603050405020304" pitchFamily="18" charset="0"/>
                          <a:cs typeface="Times New Roman" panose="02020603050405020304" pitchFamily="18" charset="0"/>
                        </a:rPr>
                        <a:t>Multi-Module XAI Framework</a:t>
                      </a:r>
                    </a:p>
                  </a:txBody>
                  <a:tcPr anchor="ctr"/>
                </a:tc>
                <a:tc>
                  <a:txBody>
                    <a:bodyPr/>
                    <a:lstStyle/>
                    <a:p>
                      <a:pPr>
                        <a:buNone/>
                      </a:pPr>
                      <a:r>
                        <a:rPr lang="en-IN">
                          <a:latin typeface="Times New Roman" panose="02020603050405020304" pitchFamily="18" charset="0"/>
                          <a:cs typeface="Times New Roman" panose="02020603050405020304" pitchFamily="18" charset="0"/>
                        </a:rPr>
                        <a:t>Better transparency; increased computational overhead</a:t>
                      </a:r>
                    </a:p>
                  </a:txBody>
                  <a:tcPr anchor="ctr"/>
                </a:tc>
                <a:tc>
                  <a:txBody>
                    <a:bodyPr/>
                    <a:lstStyle/>
                    <a:p>
                      <a:pPr>
                        <a:buNone/>
                      </a:pPr>
                      <a:r>
                        <a:rPr lang="en-IN">
                          <a:latin typeface="Times New Roman" panose="02020603050405020304" pitchFamily="18" charset="0"/>
                          <a:cs typeface="Times New Roman" panose="02020603050405020304" pitchFamily="18" charset="0"/>
                        </a:rPr>
                        <a:t>Actionable AI is essential for strategic decision support.</a:t>
                      </a:r>
                    </a:p>
                  </a:txBody>
                  <a:tcPr anchor="ctr"/>
                </a:tc>
                <a:extLst>
                  <a:ext uri="{0D108BD9-81ED-4DB2-BD59-A6C34878D82A}">
                    <a16:rowId xmlns:a16="http://schemas.microsoft.com/office/drawing/2014/main" val="282288229"/>
                  </a:ext>
                </a:extLst>
              </a:tr>
              <a:tr h="1150662">
                <a:tc>
                  <a:txBody>
                    <a:bodyPr/>
                    <a:lstStyle/>
                    <a:p>
                      <a:pPr>
                        <a:buNone/>
                      </a:pPr>
                      <a:r>
                        <a:rPr lang="en-IN">
                          <a:latin typeface="Times New Roman" panose="02020603050405020304" pitchFamily="18" charset="0"/>
                          <a:cs typeface="Times New Roman" panose="02020603050405020304" pitchFamily="18" charset="0"/>
                        </a:rPr>
                        <a:t>Molina et al. (2025)</a:t>
                      </a:r>
                    </a:p>
                  </a:txBody>
                  <a:tcPr anchor="ctr"/>
                </a:tc>
                <a:tc>
                  <a:txBody>
                    <a:bodyPr/>
                    <a:lstStyle/>
                    <a:p>
                      <a:pPr>
                        <a:buNone/>
                      </a:pPr>
                      <a:r>
                        <a:rPr lang="en-IN">
                          <a:latin typeface="Times New Roman" panose="02020603050405020304" pitchFamily="18" charset="0"/>
                          <a:cs typeface="Times New Roman" panose="02020603050405020304" pitchFamily="18" charset="0"/>
                        </a:rPr>
                        <a:t>Strategic DSS</a:t>
                      </a:r>
                    </a:p>
                  </a:txBody>
                  <a:tcPr anchor="ctr"/>
                </a:tc>
                <a:tc>
                  <a:txBody>
                    <a:bodyPr/>
                    <a:lstStyle/>
                    <a:p>
                      <a:pPr>
                        <a:buNone/>
                      </a:pPr>
                      <a:r>
                        <a:rPr lang="en-IN">
                          <a:latin typeface="Times New Roman" panose="02020603050405020304" pitchFamily="18" charset="0"/>
                          <a:cs typeface="Times New Roman" panose="02020603050405020304" pitchFamily="18" charset="0"/>
                        </a:rPr>
                        <a:t>Human-AI Decision Support</a:t>
                      </a:r>
                    </a:p>
                  </a:txBody>
                  <a:tcPr anchor="ctr"/>
                </a:tc>
                <a:tc>
                  <a:txBody>
                    <a:bodyPr/>
                    <a:lstStyle/>
                    <a:p>
                      <a:pPr>
                        <a:buNone/>
                      </a:pPr>
                      <a:r>
                        <a:rPr lang="en-IN">
                          <a:latin typeface="Times New Roman" panose="02020603050405020304" pitchFamily="18" charset="0"/>
                          <a:cs typeface="Times New Roman" panose="02020603050405020304" pitchFamily="18" charset="0"/>
                        </a:rPr>
                        <a:t>Improves decision quality; limited cross-domain integration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Future DSS should integrate multiple organizational domains.</a:t>
                      </a:r>
                    </a:p>
                  </a:txBody>
                  <a:tcPr anchor="ctr"/>
                </a:tc>
                <a:extLst>
                  <a:ext uri="{0D108BD9-81ED-4DB2-BD59-A6C34878D82A}">
                    <a16:rowId xmlns:a16="http://schemas.microsoft.com/office/drawing/2014/main" val="3195035814"/>
                  </a:ext>
                </a:extLst>
              </a:tr>
            </a:tbl>
          </a:graphicData>
        </a:graphic>
      </p:graphicFrame>
    </p:spTree>
    <p:extLst>
      <p:ext uri="{BB962C8B-B14F-4D97-AF65-F5344CB8AC3E}">
        <p14:creationId xmlns:p14="http://schemas.microsoft.com/office/powerpoint/2010/main" val="1734959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Existing decision support systems analyse demand forecasting, supply chain, and HR independently. </a:t>
            </a:r>
          </a:p>
          <a:p>
            <a:r>
              <a:rPr lang="en-IN" dirty="0">
                <a:latin typeface="Times New Roman" panose="02020603050405020304" pitchFamily="18" charset="0"/>
                <a:cs typeface="Times New Roman" panose="02020603050405020304" pitchFamily="18" charset="0"/>
              </a:rPr>
              <a:t>Current solutions primarily rely on historical data and static analytical models. </a:t>
            </a:r>
          </a:p>
          <a:p>
            <a:r>
              <a:rPr lang="en-IN" dirty="0">
                <a:latin typeface="Times New Roman" panose="02020603050405020304" pitchFamily="18" charset="0"/>
                <a:cs typeface="Times New Roman" panose="02020603050405020304" pitchFamily="18" charset="0"/>
              </a:rPr>
              <a:t>Limited support exists for cross-domain scenario simulation and business impact evaluation. </a:t>
            </a:r>
          </a:p>
          <a:p>
            <a:r>
              <a:rPr lang="en-IN" dirty="0">
                <a:latin typeface="Times New Roman" panose="02020603050405020304" pitchFamily="18" charset="0"/>
                <a:cs typeface="Times New Roman" panose="02020603050405020304" pitchFamily="18" charset="0"/>
              </a:rPr>
              <a:t>Existing Explainable AI methods explain predictions but provide limited strategic recommendations. </a:t>
            </a:r>
          </a:p>
          <a:p>
            <a:r>
              <a:rPr lang="en-IN" dirty="0" err="1">
                <a:latin typeface="Times New Roman" panose="02020603050405020304" pitchFamily="18" charset="0"/>
                <a:cs typeface="Times New Roman" panose="02020603050405020304" pitchFamily="18" charset="0"/>
              </a:rPr>
              <a:t>DecisionSphere</a:t>
            </a:r>
            <a:r>
              <a:rPr lang="en-IN" dirty="0">
                <a:latin typeface="Times New Roman" panose="02020603050405020304" pitchFamily="18" charset="0"/>
                <a:cs typeface="Times New Roman" panose="02020603050405020304" pitchFamily="18" charset="0"/>
              </a:rPr>
              <a:t> addresses these limitations through integrated scenario simulation, business impact assessment, and explainable AI-based decision support.</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29-07-2026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723261" y="1061884"/>
            <a:ext cx="10252587" cy="2487561"/>
          </a:xfrm>
        </p:spPr>
        <p:txBody>
          <a:bodyPr>
            <a:normAutofit fontScale="62500" lnSpcReduction="20000"/>
          </a:bodyPr>
          <a:lstStyle/>
          <a:p>
            <a:r>
              <a:rPr lang="en-IN" dirty="0">
                <a:latin typeface="Times New Roman" panose="02020603050405020304" pitchFamily="18" charset="0"/>
                <a:cs typeface="Times New Roman" panose="02020603050405020304" pitchFamily="18" charset="0"/>
              </a:rPr>
              <a:t>Design a unified AI-powered strategic decision support platform. </a:t>
            </a:r>
          </a:p>
          <a:p>
            <a:r>
              <a:rPr lang="en-IN" dirty="0">
                <a:latin typeface="Times New Roman" panose="02020603050405020304" pitchFamily="18" charset="0"/>
                <a:cs typeface="Times New Roman" panose="02020603050405020304" pitchFamily="18" charset="0"/>
              </a:rPr>
              <a:t>Develop a demand forecasting module using retail sales datasets. </a:t>
            </a:r>
          </a:p>
          <a:p>
            <a:r>
              <a:rPr lang="en-IN" dirty="0">
                <a:latin typeface="Times New Roman" panose="02020603050405020304" pitchFamily="18" charset="0"/>
                <a:cs typeface="Times New Roman" panose="02020603050405020304" pitchFamily="18" charset="0"/>
              </a:rPr>
              <a:t>Implement supply chain risk assessment using the </a:t>
            </a:r>
            <a:r>
              <a:rPr lang="en-IN" dirty="0" err="1">
                <a:latin typeface="Times New Roman" panose="02020603050405020304" pitchFamily="18" charset="0"/>
                <a:cs typeface="Times New Roman" panose="02020603050405020304" pitchFamily="18" charset="0"/>
              </a:rPr>
              <a:t>DataCo</a:t>
            </a:r>
            <a:r>
              <a:rPr lang="en-IN" dirty="0">
                <a:latin typeface="Times New Roman" panose="02020603050405020304" pitchFamily="18" charset="0"/>
                <a:cs typeface="Times New Roman" panose="02020603050405020304" pitchFamily="18" charset="0"/>
              </a:rPr>
              <a:t> Smart Supply Chain dataset. </a:t>
            </a:r>
          </a:p>
          <a:p>
            <a:r>
              <a:rPr lang="en-IN" dirty="0">
                <a:latin typeface="Times New Roman" panose="02020603050405020304" pitchFamily="18" charset="0"/>
                <a:cs typeface="Times New Roman" panose="02020603050405020304" pitchFamily="18" charset="0"/>
              </a:rPr>
              <a:t>Develop an HR workforce risk prediction module using the IBM HR Analytics dataset. </a:t>
            </a:r>
          </a:p>
          <a:p>
            <a:r>
              <a:rPr lang="en-IN" dirty="0">
                <a:latin typeface="Times New Roman" panose="02020603050405020304" pitchFamily="18" charset="0"/>
                <a:cs typeface="Times New Roman" panose="02020603050405020304" pitchFamily="18" charset="0"/>
              </a:rPr>
              <a:t>Integrate cross-domain scenario simulation across demand, supply chain, and HR. Assess business impact using integrated predictive analytics. </a:t>
            </a:r>
          </a:p>
          <a:p>
            <a:r>
              <a:rPr lang="en-IN" dirty="0">
                <a:latin typeface="Times New Roman" panose="02020603050405020304" pitchFamily="18" charset="0"/>
                <a:cs typeface="Times New Roman" panose="02020603050405020304" pitchFamily="18" charset="0"/>
              </a:rPr>
              <a:t>Generate explainable AI-based strategic recommendations. </a:t>
            </a:r>
          </a:p>
          <a:p>
            <a:r>
              <a:rPr lang="en-IN" dirty="0">
                <a:latin typeface="Times New Roman" panose="02020603050405020304" pitchFamily="18" charset="0"/>
                <a:cs typeface="Times New Roman" panose="02020603050405020304" pitchFamily="18" charset="0"/>
              </a:rPr>
              <a:t>Visualize organizational insights through interactive dashboards and reports.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365181"/>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29-07-2026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9" y="3900786"/>
            <a:ext cx="3121152" cy="147732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Sustainable Development Goals (SDGs)</a:t>
            </a:r>
          </a:p>
          <a:p>
            <a:r>
              <a:rPr lang="en-IN" dirty="0">
                <a:latin typeface="Times New Roman" panose="02020603050405020304" pitchFamily="18" charset="0"/>
                <a:cs typeface="Times New Roman" panose="02020603050405020304" pitchFamily="18" charset="0"/>
              </a:rPr>
              <a:t>SDG 9 – Industry, Innovation and Infrastructure</a:t>
            </a:r>
          </a:p>
          <a:p>
            <a:endParaRPr lang="en-IN"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FED1345-81F7-6EF0-C265-760BC2B7DA5D}"/>
              </a:ext>
            </a:extLst>
          </p:cNvPr>
          <p:cNvSpPr txBox="1"/>
          <p:nvPr/>
        </p:nvSpPr>
        <p:spPr>
          <a:xfrm>
            <a:off x="3581400" y="3835907"/>
            <a:ext cx="4264742" cy="203132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Technology Readiness Level (TRL)</a:t>
            </a:r>
          </a:p>
          <a:p>
            <a:r>
              <a:rPr lang="en-IN" b="1" dirty="0">
                <a:latin typeface="Times New Roman" panose="02020603050405020304" pitchFamily="18" charset="0"/>
                <a:cs typeface="Times New Roman" panose="02020603050405020304" pitchFamily="18" charset="0"/>
              </a:rPr>
              <a:t>TRL 2 – Technology Concept Formulated</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Literature survey completed. </a:t>
            </a:r>
          </a:p>
          <a:p>
            <a:r>
              <a:rPr lang="en-IN" dirty="0">
                <a:latin typeface="Times New Roman" panose="02020603050405020304" pitchFamily="18" charset="0"/>
                <a:cs typeface="Times New Roman" panose="02020603050405020304" pitchFamily="18" charset="0"/>
              </a:rPr>
              <a:t>System architecture finalized. </a:t>
            </a:r>
          </a:p>
          <a:p>
            <a:r>
              <a:rPr lang="en-IN" dirty="0">
                <a:latin typeface="Times New Roman" panose="02020603050405020304" pitchFamily="18" charset="0"/>
                <a:cs typeface="Times New Roman" panose="02020603050405020304" pitchFamily="18" charset="0"/>
              </a:rPr>
              <a:t>Datasets identified and validated. </a:t>
            </a:r>
          </a:p>
          <a:p>
            <a:r>
              <a:rPr lang="en-IN" dirty="0">
                <a:latin typeface="Times New Roman" panose="02020603050405020304" pitchFamily="18" charset="0"/>
                <a:cs typeface="Times New Roman" panose="02020603050405020304" pitchFamily="18" charset="0"/>
              </a:rPr>
              <a:t>Prototype implementation planned. </a:t>
            </a:r>
          </a:p>
          <a:p>
            <a:endParaRPr lang="en-IN"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F1D1537-9E3A-CA0F-171D-8E65EEEEF2EF}"/>
              </a:ext>
            </a:extLst>
          </p:cNvPr>
          <p:cNvSpPr txBox="1"/>
          <p:nvPr/>
        </p:nvSpPr>
        <p:spPr>
          <a:xfrm>
            <a:off x="7846142" y="3835907"/>
            <a:ext cx="3831533" cy="120032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Outcomes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AI-powered decision support platform.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Functional software prototype.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Journal publication (Future Scope).</a:t>
            </a:r>
          </a:p>
        </p:txBody>
      </p:sp>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838200" y="1359781"/>
            <a:ext cx="1043025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[1] M. R. Karim, "Artificial Intelligence-Enhanced Predictive Analytics for Demand Forecasting in U.S. Retail Supply Chains," ASRC Procedia, 2025.</a:t>
            </a:r>
          </a:p>
          <a:p>
            <a:pPr marL="0" indent="0" eaLnBrk="0" fontAlgn="base" hangingPunct="0">
              <a:lnSpc>
                <a:spcPct val="100000"/>
              </a:lnSpc>
              <a:spcBef>
                <a:spcPct val="0"/>
              </a:spcBef>
              <a:spcAft>
                <a:spcPct val="0"/>
              </a:spcAft>
              <a:buNone/>
            </a:pPr>
            <a:endParaRPr lang="en-US" altLang="en-US" sz="14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[2] D. Ivanov, "Agentic Digital Twins: Bridging Model-Based and AI-Driven Decision-Making Support for Supply Chain Management," Int. J. Production Research, 2026.</a:t>
            </a:r>
          </a:p>
          <a:p>
            <a:pPr marL="0" indent="0" eaLnBrk="0" fontAlgn="base" hangingPunct="0">
              <a:lnSpc>
                <a:spcPct val="100000"/>
              </a:lnSpc>
              <a:spcBef>
                <a:spcPct val="0"/>
              </a:spcBef>
              <a:spcAft>
                <a:spcPct val="0"/>
              </a:spcAft>
              <a:buNone/>
            </a:pPr>
            <a:endParaRPr lang="en-US" altLang="en-US" sz="14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[3] F. </a:t>
            </a:r>
            <a:r>
              <a:rPr lang="en-US" altLang="en-US" sz="1400" dirty="0" err="1">
                <a:latin typeface="Times New Roman" panose="02020603050405020304" pitchFamily="18" charset="0"/>
                <a:cs typeface="Times New Roman" panose="02020603050405020304" pitchFamily="18" charset="0"/>
              </a:rPr>
              <a:t>Sunmola</a:t>
            </a:r>
            <a:r>
              <a:rPr lang="en-US" altLang="en-US" sz="1400" dirty="0">
                <a:latin typeface="Times New Roman" panose="02020603050405020304" pitchFamily="18" charset="0"/>
                <a:cs typeface="Times New Roman" panose="02020603050405020304" pitchFamily="18" charset="0"/>
              </a:rPr>
              <a:t>, "Artificial Intelligence Opportunities for Resilient Supply Chains," IFAC-</a:t>
            </a:r>
            <a:r>
              <a:rPr lang="en-US" altLang="en-US" sz="1400" dirty="0" err="1">
                <a:latin typeface="Times New Roman" panose="02020603050405020304" pitchFamily="18" charset="0"/>
                <a:cs typeface="Times New Roman" panose="02020603050405020304" pitchFamily="18" charset="0"/>
              </a:rPr>
              <a:t>PapersOnLine</a:t>
            </a:r>
            <a:r>
              <a:rPr lang="en-US" altLang="en-US" sz="1400" dirty="0">
                <a:latin typeface="Times New Roman" panose="02020603050405020304" pitchFamily="18" charset="0"/>
                <a:cs typeface="Times New Roman" panose="02020603050405020304" pitchFamily="18" charset="0"/>
              </a:rPr>
              <a:t>, 2024.</a:t>
            </a:r>
          </a:p>
          <a:p>
            <a:pPr marL="0" indent="0" eaLnBrk="0" fontAlgn="base" hangingPunct="0">
              <a:lnSpc>
                <a:spcPct val="100000"/>
              </a:lnSpc>
              <a:spcBef>
                <a:spcPct val="0"/>
              </a:spcBef>
              <a:spcAft>
                <a:spcPct val="0"/>
              </a:spcAft>
              <a:buNone/>
            </a:pPr>
            <a:endParaRPr lang="en-US" altLang="en-US" sz="14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[4] M. </a:t>
            </a:r>
            <a:r>
              <a:rPr lang="en-US" altLang="en-US" sz="1400" dirty="0" err="1">
                <a:latin typeface="Times New Roman" panose="02020603050405020304" pitchFamily="18" charset="0"/>
                <a:cs typeface="Times New Roman" panose="02020603050405020304" pitchFamily="18" charset="0"/>
              </a:rPr>
              <a:t>Madanchian</a:t>
            </a:r>
            <a:r>
              <a:rPr lang="en-US" altLang="en-US" sz="1400" dirty="0">
                <a:latin typeface="Times New Roman" panose="02020603050405020304" pitchFamily="18" charset="0"/>
                <a:cs typeface="Times New Roman" panose="02020603050405020304" pitchFamily="18" charset="0"/>
              </a:rPr>
              <a:t> and H. </a:t>
            </a:r>
            <a:r>
              <a:rPr lang="en-US" altLang="en-US" sz="1400" dirty="0" err="1">
                <a:latin typeface="Times New Roman" panose="02020603050405020304" pitchFamily="18" charset="0"/>
                <a:cs typeface="Times New Roman" panose="02020603050405020304" pitchFamily="18" charset="0"/>
              </a:rPr>
              <a:t>Taherdoost</a:t>
            </a:r>
            <a:r>
              <a:rPr lang="en-US" altLang="en-US" sz="1400" dirty="0">
                <a:latin typeface="Times New Roman" panose="02020603050405020304" pitchFamily="18" charset="0"/>
                <a:cs typeface="Times New Roman" panose="02020603050405020304" pitchFamily="18" charset="0"/>
              </a:rPr>
              <a:t>, "Predicting Employee Turnover with Explainable AI," Springer, 2025.</a:t>
            </a:r>
          </a:p>
          <a:p>
            <a:pPr marL="0" indent="0" eaLnBrk="0" fontAlgn="base" hangingPunct="0">
              <a:lnSpc>
                <a:spcPct val="100000"/>
              </a:lnSpc>
              <a:spcBef>
                <a:spcPct val="0"/>
              </a:spcBef>
              <a:spcAft>
                <a:spcPct val="0"/>
              </a:spcAft>
              <a:buNone/>
            </a:pPr>
            <a:endParaRPr lang="en-US" altLang="en-US" sz="14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[5] B. </a:t>
            </a:r>
            <a:r>
              <a:rPr lang="en-US" altLang="en-US" sz="1400" dirty="0" err="1">
                <a:latin typeface="Times New Roman" panose="02020603050405020304" pitchFamily="18" charset="0"/>
                <a:cs typeface="Times New Roman" panose="02020603050405020304" pitchFamily="18" charset="0"/>
              </a:rPr>
              <a:t>Badhon</a:t>
            </a:r>
            <a:r>
              <a:rPr lang="en-US" altLang="en-US" sz="1400" dirty="0">
                <a:latin typeface="Times New Roman" panose="02020603050405020304" pitchFamily="18" charset="0"/>
                <a:cs typeface="Times New Roman" panose="02020603050405020304" pitchFamily="18" charset="0"/>
              </a:rPr>
              <a:t> et al., "A Multi-Module Explainable Artificial Intelligence Framework for Project Risk Management," Engineering Applications of Artificial Intelligence, 2025.</a:t>
            </a:r>
          </a:p>
          <a:p>
            <a:pPr marL="0" indent="0" eaLnBrk="0" fontAlgn="base" hangingPunct="0">
              <a:lnSpc>
                <a:spcPct val="100000"/>
              </a:lnSpc>
              <a:spcBef>
                <a:spcPct val="0"/>
              </a:spcBef>
              <a:spcAft>
                <a:spcPct val="0"/>
              </a:spcAft>
              <a:buNone/>
            </a:pPr>
            <a:endParaRPr lang="en-US" altLang="en-US" sz="14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[6] A. Molina et al., "A Systematic Review of Intelligent Support Systems for Strategic Decision-Making," 2025.</a:t>
            </a:r>
          </a:p>
          <a:p>
            <a:pPr marL="0" indent="0" eaLnBrk="0" fontAlgn="base" hangingPunct="0">
              <a:lnSpc>
                <a:spcPct val="100000"/>
              </a:lnSpc>
              <a:spcBef>
                <a:spcPct val="0"/>
              </a:spcBef>
              <a:spcAft>
                <a:spcPct val="0"/>
              </a:spcAft>
              <a:buNone/>
            </a:pPr>
            <a:endParaRPr lang="en-US" altLang="en-US" sz="14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[7] Z. Hussain et al., "Transformers for Multivariate Time Series Forecasting," IEEE Access, 2026.</a:t>
            </a:r>
          </a:p>
          <a:p>
            <a:pPr marL="0" indent="0" eaLnBrk="0" fontAlgn="base" hangingPunct="0">
              <a:lnSpc>
                <a:spcPct val="100000"/>
              </a:lnSpc>
              <a:spcBef>
                <a:spcPct val="0"/>
              </a:spcBef>
              <a:spcAft>
                <a:spcPct val="0"/>
              </a:spcAft>
              <a:buNone/>
            </a:pPr>
            <a:endParaRPr lang="en-US" altLang="en-US" sz="14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[8] T. E. Kolb, "Enhancing Cross-Domain Recommender Systems with LLMs," ACM </a:t>
            </a:r>
            <a:r>
              <a:rPr lang="en-US" altLang="en-US" sz="1400" dirty="0" err="1">
                <a:latin typeface="Times New Roman" panose="02020603050405020304" pitchFamily="18" charset="0"/>
                <a:cs typeface="Times New Roman" panose="02020603050405020304" pitchFamily="18" charset="0"/>
              </a:rPr>
              <a:t>RecSys</a:t>
            </a:r>
            <a:r>
              <a:rPr lang="en-US" altLang="en-US" sz="1400" dirty="0">
                <a:latin typeface="Times New Roman" panose="02020603050405020304" pitchFamily="18" charset="0"/>
                <a:cs typeface="Times New Roman" panose="02020603050405020304" pitchFamily="18" charset="0"/>
              </a:rPr>
              <a:t>, 2024.</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29-07-2026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8</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869</Words>
  <Application>Microsoft Office PowerPoint</Application>
  <PresentationFormat>Widescreen</PresentationFormat>
  <Paragraphs>117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Programme B.Tech BCSE497J – Project - I DecisionSphere: A Scenario-Based Strategic Planning and Risk Evaluation Platform</vt:lpstr>
      <vt:lpstr>Aim</vt:lpstr>
      <vt:lpstr>Abstract</vt:lpstr>
      <vt:lpstr>Literature Review</vt:lpstr>
      <vt:lpstr>PowerPoint Presentation</vt:lpstr>
      <vt:lpstr>Research Gap</vt:lpstr>
      <vt:lpstr>Objectives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Kushal Polineni</cp:lastModifiedBy>
  <cp:revision>7</cp:revision>
  <dcterms:created xsi:type="dcterms:W3CDTF">2026-07-14T06:00:41Z</dcterms:created>
  <dcterms:modified xsi:type="dcterms:W3CDTF">2026-07-29T06:09:56Z</dcterms:modified>
</cp:coreProperties>
</file>